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y="6858000" cx="12192000"/>
  <p:notesSz cx="6858000" cy="9144000"/>
  <p:embeddedFontLst>
    <p:embeddedFont>
      <p:font typeface="Poppins"/>
      <p:regular r:id="rId22"/>
      <p:bold r:id="rId23"/>
      <p:italic r:id="rId24"/>
      <p:boldItalic r:id="rId25"/>
    </p:embeddedFont>
    <p:embeddedFont>
      <p:font typeface="Lato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2D631AA2-6413-47F3-A5E9-A69CF8AB0031}">
  <a:tblStyle styleId="{2D631AA2-6413-47F3-A5E9-A69CF8AB003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Poppins-regular.fntdata"/><Relationship Id="rId21" Type="http://schemas.openxmlformats.org/officeDocument/2006/relationships/slide" Target="slides/slide15.xml"/><Relationship Id="rId24" Type="http://schemas.openxmlformats.org/officeDocument/2006/relationships/font" Target="fonts/Poppins-italic.fntdata"/><Relationship Id="rId23" Type="http://schemas.openxmlformats.org/officeDocument/2006/relationships/font" Target="fonts/Poppins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Lato-regular.fntdata"/><Relationship Id="rId25" Type="http://schemas.openxmlformats.org/officeDocument/2006/relationships/font" Target="fonts/Poppins-boldItalic.fntdata"/><Relationship Id="rId28" Type="http://schemas.openxmlformats.org/officeDocument/2006/relationships/font" Target="fonts/Lato-italic.fntdata"/><Relationship Id="rId27" Type="http://schemas.openxmlformats.org/officeDocument/2006/relationships/font" Target="fonts/Lato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Lato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98edc0cf40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98edc0cf40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g398edc0cf40_0_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0" name="Google Shape;230;g398edc0cf40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398edc0cf40_0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398edc0cf40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98edc0cf40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98edc0cf40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7.png"/><Relationship Id="rId4" Type="http://schemas.openxmlformats.org/officeDocument/2006/relationships/image" Target="../media/image1.png"/><Relationship Id="rId9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2.png"/><Relationship Id="rId7" Type="http://schemas.openxmlformats.org/officeDocument/2006/relationships/image" Target="../media/image3.png"/><Relationship Id="rId8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3.png"/><Relationship Id="rId5" Type="http://schemas.openxmlformats.org/officeDocument/2006/relationships/image" Target="../media/image1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2100262"/>
            <a:ext cx="11601450" cy="2019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25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Financial Reporting Automation Framework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286000" y="4310062"/>
            <a:ext cx="76200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Automating financial data from collection to visualization for real-time insights.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662223"/>
            <a:ext cx="5286375" cy="28196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662223"/>
            <a:ext cx="5286375" cy="2819650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4"/>
          <p:cNvSpPr txBox="1"/>
          <p:nvPr/>
        </p:nvSpPr>
        <p:spPr>
          <a:xfrm>
            <a:off x="962025" y="305276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Project Overview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962025" y="3557572"/>
            <a:ext cx="4505400" cy="1670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The framework automates collecting, transforming, and reporting financial data. It consolidates data from sources lik</a:t>
            </a:r>
            <a:r>
              <a:rPr lang="en-US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 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Kaggle Finance Data, uses a Python ETL, stores in BigQuery, and visualizes with Streamlit.</a:t>
            </a:r>
            <a:endParaRPr sz="1600"/>
          </a:p>
        </p:txBody>
      </p:sp>
      <p:sp>
        <p:nvSpPr>
          <p:cNvPr id="96" name="Google Shape;96;p14"/>
          <p:cNvSpPr txBox="1"/>
          <p:nvPr/>
        </p:nvSpPr>
        <p:spPr>
          <a:xfrm>
            <a:off x="6724650" y="3052762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Core Objectives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6724650" y="3557572"/>
            <a:ext cx="4505400" cy="131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Automate end-to-end processing, build a scalable ETL, standardize key metrics (revenue, profitability), and deliver interactive dashboards to reduce manual effort and reporting delays.</a:t>
            </a:r>
            <a:endParaRPr sz="1600"/>
          </a:p>
        </p:txBody>
      </p:sp>
      <p:sp>
        <p:nvSpPr>
          <p:cNvPr id="98" name="Google Shape;98;p14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Project Overview &amp; Objective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04" name="Google Shape;104;p15"/>
          <p:cNvGraphicFramePr/>
          <p:nvPr/>
        </p:nvGraphicFramePr>
        <p:xfrm>
          <a:off x="571500" y="145732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{2D631AA2-6413-47F3-A5E9-A69CF8AB0031}</a:tableStyleId>
              </a:tblPr>
              <a:tblGrid>
                <a:gridCol w="4168975"/>
                <a:gridCol w="6880025"/>
              </a:tblGrid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Component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334155"/>
                          </a:solidFill>
                          <a:latin typeface="Poppins"/>
                          <a:ea typeface="Poppins"/>
                          <a:cs typeface="Poppins"/>
                          <a:sym typeface="Poppins"/>
                        </a:rPr>
                        <a:t>Technology Used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8FAFC"/>
                    </a:solidFill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Sources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Kaggle Financial Datasets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Programming Language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Python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Processing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Pandas, PySpark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Data Warehouse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Google BigQuery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Reporting / Visualization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Streamlit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19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Version Control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50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GitHub</a:t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00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600"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5" name="Google Shape;105;p15"/>
          <p:cNvSpPr/>
          <p:nvPr/>
        </p:nvSpPr>
        <p:spPr>
          <a:xfrm>
            <a:off x="571500" y="2081212"/>
            <a:ext cx="4168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15"/>
          <p:cNvSpPr/>
          <p:nvPr/>
        </p:nvSpPr>
        <p:spPr>
          <a:xfrm>
            <a:off x="4740473" y="2081212"/>
            <a:ext cx="68800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15"/>
          <p:cNvSpPr/>
          <p:nvPr/>
        </p:nvSpPr>
        <p:spPr>
          <a:xfrm>
            <a:off x="571500" y="2690812"/>
            <a:ext cx="4168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15"/>
          <p:cNvSpPr/>
          <p:nvPr/>
        </p:nvSpPr>
        <p:spPr>
          <a:xfrm>
            <a:off x="4740473" y="2690812"/>
            <a:ext cx="68800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15"/>
          <p:cNvSpPr/>
          <p:nvPr/>
        </p:nvSpPr>
        <p:spPr>
          <a:xfrm>
            <a:off x="571500" y="3300412"/>
            <a:ext cx="4168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15"/>
          <p:cNvSpPr/>
          <p:nvPr/>
        </p:nvSpPr>
        <p:spPr>
          <a:xfrm>
            <a:off x="4740473" y="3300412"/>
            <a:ext cx="68800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5"/>
          <p:cNvSpPr/>
          <p:nvPr/>
        </p:nvSpPr>
        <p:spPr>
          <a:xfrm>
            <a:off x="571500" y="3910012"/>
            <a:ext cx="4168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5"/>
          <p:cNvSpPr/>
          <p:nvPr/>
        </p:nvSpPr>
        <p:spPr>
          <a:xfrm>
            <a:off x="4740473" y="3910012"/>
            <a:ext cx="68800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5"/>
          <p:cNvSpPr/>
          <p:nvPr/>
        </p:nvSpPr>
        <p:spPr>
          <a:xfrm>
            <a:off x="571500" y="4519612"/>
            <a:ext cx="4168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/>
          <p:nvPr/>
        </p:nvSpPr>
        <p:spPr>
          <a:xfrm>
            <a:off x="4740473" y="4519612"/>
            <a:ext cx="68800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5"/>
          <p:cNvSpPr/>
          <p:nvPr/>
        </p:nvSpPr>
        <p:spPr>
          <a:xfrm>
            <a:off x="571500" y="5129212"/>
            <a:ext cx="4168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5"/>
          <p:cNvSpPr/>
          <p:nvPr/>
        </p:nvSpPr>
        <p:spPr>
          <a:xfrm>
            <a:off x="4740473" y="5129212"/>
            <a:ext cx="68800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571500" y="5738812"/>
            <a:ext cx="4168973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/>
          <p:nvPr/>
        </p:nvSpPr>
        <p:spPr>
          <a:xfrm>
            <a:off x="4740473" y="5738812"/>
            <a:ext cx="6880026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5"/>
          <p:cNvSpPr txBox="1"/>
          <p:nvPr/>
        </p:nvSpPr>
        <p:spPr>
          <a:xfrm>
            <a:off x="571500" y="504825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Technical Specifications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57450"/>
            <a:ext cx="3429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81500" y="2457450"/>
            <a:ext cx="3429000" cy="2895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91500" y="2457450"/>
            <a:ext cx="3429000" cy="289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6"/>
          <p:cNvSpPr txBox="1"/>
          <p:nvPr/>
        </p:nvSpPr>
        <p:spPr>
          <a:xfrm>
            <a:off x="1630918" y="3467100"/>
            <a:ext cx="1310163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Extract (E)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866775" y="4114800"/>
            <a:ext cx="2838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Extract data from multiple financial APIs (</a:t>
            </a:r>
            <a:r>
              <a:rPr lang="en-US" sz="15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Kaggle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) and flat files (CSV/Excel).</a:t>
            </a:r>
            <a:endParaRPr sz="1600"/>
          </a:p>
        </p:txBody>
      </p:sp>
      <p:sp>
        <p:nvSpPr>
          <p:cNvPr id="130" name="Google Shape;130;p16"/>
          <p:cNvSpPr txBox="1"/>
          <p:nvPr/>
        </p:nvSpPr>
        <p:spPr>
          <a:xfrm>
            <a:off x="5215890" y="3467100"/>
            <a:ext cx="1760220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Transform (T)</a:t>
            </a:r>
            <a:endParaRPr/>
          </a:p>
        </p:txBody>
      </p:sp>
      <p:sp>
        <p:nvSpPr>
          <p:cNvPr id="131" name="Google Shape;131;p16"/>
          <p:cNvSpPr txBox="1"/>
          <p:nvPr/>
        </p:nvSpPr>
        <p:spPr>
          <a:xfrm>
            <a:off x="4676775" y="4114800"/>
            <a:ext cx="28386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Clean, normalize, and enrich data (handle nulls, compute ratios, categorize).</a:t>
            </a:r>
            <a:endParaRPr sz="1600"/>
          </a:p>
        </p:txBody>
      </p:sp>
      <p:sp>
        <p:nvSpPr>
          <p:cNvPr id="132" name="Google Shape;132;p16"/>
          <p:cNvSpPr txBox="1"/>
          <p:nvPr/>
        </p:nvSpPr>
        <p:spPr>
          <a:xfrm>
            <a:off x="9400936" y="3467100"/>
            <a:ext cx="101012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Load (L)</a:t>
            </a:r>
            <a:endParaRPr/>
          </a:p>
        </p:txBody>
      </p:sp>
      <p:sp>
        <p:nvSpPr>
          <p:cNvPr id="133" name="Google Shape;133;p16"/>
          <p:cNvSpPr txBox="1"/>
          <p:nvPr/>
        </p:nvSpPr>
        <p:spPr>
          <a:xfrm>
            <a:off x="8486775" y="4114800"/>
            <a:ext cx="28386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Load transformed data into BigQuery fact and dimension tables.</a:t>
            </a:r>
            <a:endParaRPr sz="1500"/>
          </a:p>
        </p:txBody>
      </p:sp>
      <p:pic>
        <p:nvPicPr>
          <p:cNvPr descr="image.png" id="134" name="Google Shape;134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85975" y="2771775"/>
            <a:ext cx="4000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5" name="Google Shape;135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867400" y="277177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9620250" y="277177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6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Design Solutions: Building Pipelines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7"/>
          <p:cNvSpPr txBox="1"/>
          <p:nvPr/>
        </p:nvSpPr>
        <p:spPr>
          <a:xfrm>
            <a:off x="714375" y="20002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4" name="Google Shape;144;p17"/>
          <p:cNvSpPr txBox="1"/>
          <p:nvPr/>
        </p:nvSpPr>
        <p:spPr>
          <a:xfrm>
            <a:off x="809625" y="2000250"/>
            <a:ext cx="50481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Source:</a:t>
            </a:r>
            <a:r>
              <a:rPr b="0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APIs (Yahoo Finance, Kaggle).</a:t>
            </a:r>
            <a:endParaRPr sz="1700"/>
          </a:p>
        </p:txBody>
      </p:sp>
      <p:sp>
        <p:nvSpPr>
          <p:cNvPr id="145" name="Google Shape;145;p17"/>
          <p:cNvSpPr txBox="1"/>
          <p:nvPr/>
        </p:nvSpPr>
        <p:spPr>
          <a:xfrm>
            <a:off x="714375" y="24003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809625" y="2400300"/>
            <a:ext cx="5048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Ingestion: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Python scripts (requests, pandas).</a:t>
            </a:r>
            <a:endParaRPr sz="1600"/>
          </a:p>
        </p:txBody>
      </p:sp>
      <p:sp>
        <p:nvSpPr>
          <p:cNvPr id="147" name="Google Shape;147;p17"/>
          <p:cNvSpPr txBox="1"/>
          <p:nvPr/>
        </p:nvSpPr>
        <p:spPr>
          <a:xfrm>
            <a:off x="714375" y="28003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09625" y="2800350"/>
            <a:ext cx="5048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Staging: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Raw data in CSV/Parquet (S3/Local).</a:t>
            </a:r>
            <a:endParaRPr sz="1600"/>
          </a:p>
        </p:txBody>
      </p:sp>
      <p:sp>
        <p:nvSpPr>
          <p:cNvPr id="149" name="Google Shape;149;p17"/>
          <p:cNvSpPr txBox="1"/>
          <p:nvPr/>
        </p:nvSpPr>
        <p:spPr>
          <a:xfrm>
            <a:off x="714375" y="32004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09475" y="3215700"/>
            <a:ext cx="50484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Data cleaning, standardization, derived KPIs.</a:t>
            </a:r>
            <a:endParaRPr sz="1750"/>
          </a:p>
        </p:txBody>
      </p:sp>
      <p:sp>
        <p:nvSpPr>
          <p:cNvPr id="151" name="Google Shape;151;p17"/>
          <p:cNvSpPr txBox="1"/>
          <p:nvPr/>
        </p:nvSpPr>
        <p:spPr>
          <a:xfrm>
            <a:off x="714375" y="36004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09625" y="3600450"/>
            <a:ext cx="5048400" cy="2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</a:t>
            </a:r>
            <a:r>
              <a:rPr b="1" i="0" lang="en-US" sz="16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torage</a:t>
            </a: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: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BigQuery (Fact/Dimension models).</a:t>
            </a:r>
            <a:endParaRPr sz="1750"/>
          </a:p>
        </p:txBody>
      </p:sp>
      <p:sp>
        <p:nvSpPr>
          <p:cNvPr id="153" name="Google Shape;153;p17"/>
          <p:cNvSpPr txBox="1"/>
          <p:nvPr/>
        </p:nvSpPr>
        <p:spPr>
          <a:xfrm>
            <a:off x="714375" y="400050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09625" y="4019175"/>
            <a:ext cx="5048100" cy="2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Reporting:</a:t>
            </a: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Streamlit Dashboard.</a:t>
            </a:r>
            <a:endParaRPr sz="1500"/>
          </a:p>
        </p:txBody>
      </p:sp>
      <p:pic>
        <p:nvPicPr>
          <p:cNvPr descr="image.png" id="155" name="Google Shape;15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34125" y="447225"/>
            <a:ext cx="5286375" cy="60346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7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High-Level Design (HLD)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1" name="Google Shape;16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2" name="Google Shape;162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90825"/>
            <a:ext cx="5286375" cy="2228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3" name="Google Shape;163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790825"/>
            <a:ext cx="5286375" cy="222885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8"/>
          <p:cNvSpPr txBox="1"/>
          <p:nvPr/>
        </p:nvSpPr>
        <p:spPr>
          <a:xfrm>
            <a:off x="962025" y="318135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Fact Table: Fact_Financials</a:t>
            </a:r>
            <a:endParaRPr/>
          </a:p>
        </p:txBody>
      </p:sp>
      <p:sp>
        <p:nvSpPr>
          <p:cNvPr id="165" name="Google Shape;165;p18"/>
          <p:cNvSpPr txBox="1"/>
          <p:nvPr/>
        </p:nvSpPr>
        <p:spPr>
          <a:xfrm>
            <a:off x="962025" y="3686175"/>
            <a:ext cx="4505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Contains quantitative metrics like Revenue, Gross Profit, Net Income, EPS, ROE, ROA, and Debt/Equity. Linked via foreign keys.</a:t>
            </a:r>
            <a:endParaRPr sz="1600"/>
          </a:p>
        </p:txBody>
      </p:sp>
      <p:sp>
        <p:nvSpPr>
          <p:cNvPr id="166" name="Google Shape;166;p18"/>
          <p:cNvSpPr txBox="1"/>
          <p:nvPr/>
        </p:nvSpPr>
        <p:spPr>
          <a:xfrm>
            <a:off x="6724650" y="3181350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Dimension Tables</a:t>
            </a:r>
            <a:endParaRPr/>
          </a:p>
        </p:txBody>
      </p:sp>
      <p:sp>
        <p:nvSpPr>
          <p:cNvPr id="167" name="Google Shape;167;p18"/>
          <p:cNvSpPr txBox="1"/>
          <p:nvPr/>
        </p:nvSpPr>
        <p:spPr>
          <a:xfrm>
            <a:off x="6724650" y="3686175"/>
            <a:ext cx="4505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Provide context: </a:t>
            </a: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Dim_Company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(Name), </a:t>
            </a: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Dim_Category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(Sector), </a:t>
            </a: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Dim_Time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(Year), </a:t>
            </a:r>
            <a:r>
              <a:rPr b="1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Dim_Location</a:t>
            </a: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(Region).</a:t>
            </a:r>
            <a:endParaRPr sz="1600"/>
          </a:p>
        </p:txBody>
      </p:sp>
      <p:sp>
        <p:nvSpPr>
          <p:cNvPr id="168" name="Google Shape;168;p18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Low-Level Design: Star Schema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3" name="Google Shape;17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4" name="Google Shape;17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9"/>
          <p:cNvSpPr txBox="1"/>
          <p:nvPr/>
        </p:nvSpPr>
        <p:spPr>
          <a:xfrm>
            <a:off x="571500" y="571500"/>
            <a:ext cx="4950618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End-to-End Pipeline Flow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857250" y="2790825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7" name="Google Shape;177;p19"/>
          <p:cNvSpPr txBox="1"/>
          <p:nvPr/>
        </p:nvSpPr>
        <p:spPr>
          <a:xfrm>
            <a:off x="952500" y="2790825"/>
            <a:ext cx="4333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Real-time &amp; Batch:</a:t>
            </a: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Fetches live metrics of </a:t>
            </a:r>
            <a:r>
              <a:rPr lang="en-US" sz="1450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Finance</a:t>
            </a: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and processes batch data (Kaggle) periodically.</a:t>
            </a:r>
            <a:endParaRPr sz="1500"/>
          </a:p>
        </p:txBody>
      </p:sp>
      <p:sp>
        <p:nvSpPr>
          <p:cNvPr id="178" name="Google Shape;178;p19"/>
          <p:cNvSpPr txBox="1"/>
          <p:nvPr/>
        </p:nvSpPr>
        <p:spPr>
          <a:xfrm>
            <a:off x="857250" y="34480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79" name="Google Shape;179;p19"/>
          <p:cNvSpPr txBox="1"/>
          <p:nvPr/>
        </p:nvSpPr>
        <p:spPr>
          <a:xfrm>
            <a:off x="952500" y="3448050"/>
            <a:ext cx="4333800" cy="892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Storage Strategy:</a:t>
            </a: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Raw data is archived in S3/Cloud Storage for traceability. Processed, queryable data resides in BigQuery.</a:t>
            </a:r>
            <a:endParaRPr sz="1500"/>
          </a:p>
        </p:txBody>
      </p:sp>
      <p:sp>
        <p:nvSpPr>
          <p:cNvPr id="180" name="Google Shape;180;p19"/>
          <p:cNvSpPr txBox="1"/>
          <p:nvPr/>
        </p:nvSpPr>
        <p:spPr>
          <a:xfrm>
            <a:off x="857250" y="4362450"/>
            <a:ext cx="952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•</a:t>
            </a:r>
            <a:endParaRPr/>
          </a:p>
        </p:txBody>
      </p:sp>
      <p:sp>
        <p:nvSpPr>
          <p:cNvPr id="181" name="Google Shape;181;p19"/>
          <p:cNvSpPr txBox="1"/>
          <p:nvPr/>
        </p:nvSpPr>
        <p:spPr>
          <a:xfrm>
            <a:off x="952500" y="4362450"/>
            <a:ext cx="4333800" cy="558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952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Automation:</a:t>
            </a:r>
            <a:r>
              <a:rPr b="0" i="0" lang="en-US" sz="14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Entire workflow is scheduled using or Cloud Scheduler for hands-free operation.</a:t>
            </a:r>
            <a:endParaRPr sz="1500"/>
          </a:p>
        </p:txBody>
      </p:sp>
      <p:pic>
        <p:nvPicPr>
          <p:cNvPr id="182" name="Google Shape;182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405675" y="1368725"/>
            <a:ext cx="6629402" cy="4415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19412"/>
            <a:ext cx="5286375" cy="19716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2919412"/>
            <a:ext cx="5286375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0"/>
          <p:cNvSpPr txBox="1"/>
          <p:nvPr/>
        </p:nvSpPr>
        <p:spPr>
          <a:xfrm>
            <a:off x="962025" y="33099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Data Quality Rules</a:t>
            </a:r>
            <a:endParaRPr/>
          </a:p>
        </p:txBody>
      </p:sp>
      <p:sp>
        <p:nvSpPr>
          <p:cNvPr id="191" name="Google Shape;191;p20"/>
          <p:cNvSpPr txBox="1"/>
          <p:nvPr/>
        </p:nvSpPr>
        <p:spPr>
          <a:xfrm>
            <a:off x="962025" y="3814762"/>
            <a:ext cx="4505400" cy="9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Null value handling, data type validation, duplicate checks (Company–Year), and range checks (e.g., ratios 0-100).</a:t>
            </a:r>
            <a:endParaRPr sz="1600"/>
          </a:p>
        </p:txBody>
      </p:sp>
      <p:sp>
        <p:nvSpPr>
          <p:cNvPr id="192" name="Google Shape;192;p20"/>
          <p:cNvSpPr txBox="1"/>
          <p:nvPr/>
        </p:nvSpPr>
        <p:spPr>
          <a:xfrm>
            <a:off x="6724650" y="3309937"/>
            <a:ext cx="4730591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Error Handling</a:t>
            </a:r>
            <a:endParaRPr/>
          </a:p>
        </p:txBody>
      </p:sp>
      <p:sp>
        <p:nvSpPr>
          <p:cNvPr id="193" name="Google Shape;193;p20"/>
          <p:cNvSpPr txBox="1"/>
          <p:nvPr/>
        </p:nvSpPr>
        <p:spPr>
          <a:xfrm>
            <a:off x="6724650" y="3814762"/>
            <a:ext cx="4505400" cy="5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Try/Except blocks in Python, external logging, and Email/Slack alerts on ETL failure.</a:t>
            </a:r>
            <a:endParaRPr sz="1600"/>
          </a:p>
        </p:txBody>
      </p:sp>
      <p:sp>
        <p:nvSpPr>
          <p:cNvPr id="194" name="Google Shape;194;p20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Error Handling &amp; Data Quality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9" name="Google Shape;19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/>
          <p:nvPr/>
        </p:nvSpPr>
        <p:spPr>
          <a:xfrm>
            <a:off x="571500" y="3886200"/>
            <a:ext cx="11049000" cy="38100"/>
          </a:xfrm>
          <a:prstGeom prst="roundRect">
            <a:avLst>
              <a:gd fmla="val 16667" name="adj"/>
            </a:avLst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507968" y="4143375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1. Extract</a:t>
            </a:r>
            <a:endParaRPr/>
          </a:p>
        </p:txBody>
      </p:sp>
      <p:sp>
        <p:nvSpPr>
          <p:cNvPr id="202" name="Google Shape;202;p21"/>
          <p:cNvSpPr txBox="1"/>
          <p:nvPr/>
        </p:nvSpPr>
        <p:spPr>
          <a:xfrm>
            <a:off x="571500" y="4629150"/>
            <a:ext cx="254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Extract Data from APIs.</a:t>
            </a:r>
            <a:endParaRPr sz="1600"/>
          </a:p>
        </p:txBody>
      </p:sp>
      <p:sp>
        <p:nvSpPr>
          <p:cNvPr id="203" name="Google Shape;203;p21"/>
          <p:cNvSpPr txBox="1"/>
          <p:nvPr/>
        </p:nvSpPr>
        <p:spPr>
          <a:xfrm>
            <a:off x="3343888" y="2752725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2. Transform</a:t>
            </a:r>
            <a:endParaRPr/>
          </a:p>
        </p:txBody>
      </p:sp>
      <p:sp>
        <p:nvSpPr>
          <p:cNvPr id="204" name="Google Shape;204;p21"/>
          <p:cNvSpPr txBox="1"/>
          <p:nvPr/>
        </p:nvSpPr>
        <p:spPr>
          <a:xfrm>
            <a:off x="3407419" y="3238500"/>
            <a:ext cx="254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Transform Data (Python).</a:t>
            </a:r>
            <a:endParaRPr sz="1600"/>
          </a:p>
        </p:txBody>
      </p:sp>
      <p:sp>
        <p:nvSpPr>
          <p:cNvPr id="205" name="Google Shape;205;p21"/>
          <p:cNvSpPr txBox="1"/>
          <p:nvPr/>
        </p:nvSpPr>
        <p:spPr>
          <a:xfrm>
            <a:off x="6179808" y="4143375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3. Load</a:t>
            </a:r>
            <a:endParaRPr/>
          </a:p>
        </p:txBody>
      </p:sp>
      <p:sp>
        <p:nvSpPr>
          <p:cNvPr id="206" name="Google Shape;206;p21"/>
          <p:cNvSpPr txBox="1"/>
          <p:nvPr/>
        </p:nvSpPr>
        <p:spPr>
          <a:xfrm>
            <a:off x="6243327" y="4600575"/>
            <a:ext cx="254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Load Data into BigQuery.</a:t>
            </a:r>
            <a:endParaRPr sz="1600"/>
          </a:p>
        </p:txBody>
      </p:sp>
      <p:sp>
        <p:nvSpPr>
          <p:cNvPr id="207" name="Google Shape;207;p21"/>
          <p:cNvSpPr txBox="1"/>
          <p:nvPr/>
        </p:nvSpPr>
        <p:spPr>
          <a:xfrm>
            <a:off x="9015728" y="2752725"/>
            <a:ext cx="2668302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4. Validate</a:t>
            </a:r>
            <a:endParaRPr/>
          </a:p>
        </p:txBody>
      </p:sp>
      <p:sp>
        <p:nvSpPr>
          <p:cNvPr id="208" name="Google Shape;208;p21"/>
          <p:cNvSpPr txBox="1"/>
          <p:nvPr/>
        </p:nvSpPr>
        <p:spPr>
          <a:xfrm>
            <a:off x="9079259" y="3238500"/>
            <a:ext cx="2541300" cy="23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Run Data Quality Checks</a:t>
            </a:r>
            <a:r>
              <a:rPr b="0" i="0" lang="en-US" sz="1350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/>
          </a:p>
        </p:txBody>
      </p:sp>
      <p:sp>
        <p:nvSpPr>
          <p:cNvPr id="209" name="Google Shape;209;p21"/>
          <p:cNvSpPr/>
          <p:nvPr/>
        </p:nvSpPr>
        <p:spPr>
          <a:xfrm>
            <a:off x="174687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21"/>
          <p:cNvSpPr/>
          <p:nvPr/>
        </p:nvSpPr>
        <p:spPr>
          <a:xfrm>
            <a:off x="4582790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1"/>
          <p:cNvSpPr/>
          <p:nvPr/>
        </p:nvSpPr>
        <p:spPr>
          <a:xfrm>
            <a:off x="741870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1"/>
          <p:cNvSpPr/>
          <p:nvPr/>
        </p:nvSpPr>
        <p:spPr>
          <a:xfrm>
            <a:off x="10254629" y="3810000"/>
            <a:ext cx="190500" cy="190500"/>
          </a:xfrm>
          <a:prstGeom prst="roundRect">
            <a:avLst>
              <a:gd fmla="val 50000" name="adj"/>
            </a:avLst>
          </a:prstGeom>
          <a:solidFill>
            <a:srgbClr val="FFFFFF"/>
          </a:solidFill>
          <a:ln cap="flat" cmpd="sng" w="38100">
            <a:solidFill>
              <a:srgbClr val="4F46E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571500" y="571500"/>
            <a:ext cx="116016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Pipeline Orchestration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18" name="Google Shape;21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2"/>
          <p:cNvSpPr txBox="1"/>
          <p:nvPr/>
        </p:nvSpPr>
        <p:spPr>
          <a:xfrm>
            <a:off x="571500" y="571500"/>
            <a:ext cx="11601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1E293B"/>
                </a:solidFill>
                <a:latin typeface="Poppins"/>
                <a:ea typeface="Poppins"/>
                <a:cs typeface="Poppins"/>
                <a:sym typeface="Poppins"/>
              </a:rPr>
              <a:t>Visualizations (Streamlit Dashboard)</a:t>
            </a:r>
            <a:endParaRPr/>
          </a:p>
        </p:txBody>
      </p:sp>
      <p:pic>
        <p:nvPicPr>
          <p:cNvPr id="220" name="Google Shape;220;p22" title="newplo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989375"/>
            <a:ext cx="12192001" cy="4868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22"/>
          <p:cNvSpPr txBox="1"/>
          <p:nvPr/>
        </p:nvSpPr>
        <p:spPr>
          <a:xfrm>
            <a:off x="3999600" y="1581150"/>
            <a:ext cx="3855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900">
                <a:solidFill>
                  <a:srgbClr val="31333F"/>
                </a:solidFill>
                <a:highlight>
                  <a:srgbClr val="FFFFFF"/>
                </a:highlight>
              </a:rPr>
              <a:t>Revenue &amp; Profitability Metrics</a:t>
            </a:r>
            <a:endParaRPr b="1" sz="1900">
              <a:solidFill>
                <a:srgbClr val="31333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p23" title="newplot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2925"/>
            <a:ext cx="11887199" cy="557895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3409950" y="152400"/>
            <a:ext cx="4671900" cy="65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300">
                <a:solidFill>
                  <a:srgbClr val="31333F"/>
                </a:solidFill>
                <a:highlight>
                  <a:srgbClr val="FFFFFF"/>
                </a:highlight>
              </a:rPr>
              <a:t> </a:t>
            </a:r>
            <a:r>
              <a:rPr b="1" lang="en-US" sz="2000">
                <a:solidFill>
                  <a:srgbClr val="31333F"/>
                </a:solidFill>
                <a:highlight>
                  <a:srgbClr val="FFFFFF"/>
                </a:highlight>
              </a:rPr>
              <a:t>Revenue by Category (Aggregated)</a:t>
            </a:r>
            <a:endParaRPr b="1" sz="2000">
              <a:solidFill>
                <a:srgbClr val="31333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4" title="newplot (2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014175"/>
            <a:ext cx="11887199" cy="5843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24"/>
          <p:cNvSpPr txBox="1"/>
          <p:nvPr/>
        </p:nvSpPr>
        <p:spPr>
          <a:xfrm>
            <a:off x="4417800" y="379075"/>
            <a:ext cx="3356400" cy="6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31333F"/>
                </a:solidFill>
                <a:highlight>
                  <a:srgbClr val="FFFFFF"/>
                </a:highlight>
              </a:rPr>
              <a:t>Return and Ratio Metrics</a:t>
            </a:r>
            <a:endParaRPr b="1" sz="2000">
              <a:solidFill>
                <a:srgbClr val="31333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8" name="Google Shape;238;p25" title="newplot (3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878125"/>
            <a:ext cx="11887199" cy="5979875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5"/>
          <p:cNvSpPr txBox="1"/>
          <p:nvPr/>
        </p:nvSpPr>
        <p:spPr>
          <a:xfrm>
            <a:off x="3576875" y="197725"/>
            <a:ext cx="3741900" cy="5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800">
                <a:solidFill>
                  <a:srgbClr val="31333F"/>
                </a:solidFill>
                <a:highlight>
                  <a:srgbClr val="FFFFFF"/>
                </a:highlight>
              </a:rPr>
              <a:t>Efficiency &amp; Productivity Metrics</a:t>
            </a:r>
            <a:endParaRPr b="1" sz="1800">
              <a:solidFill>
                <a:srgbClr val="31333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4" name="Google Shape;244;p26" title="newplot (4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2930"/>
            <a:ext cx="11887199" cy="5685075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6"/>
          <p:cNvSpPr txBox="1"/>
          <p:nvPr/>
        </p:nvSpPr>
        <p:spPr>
          <a:xfrm>
            <a:off x="3273875" y="333825"/>
            <a:ext cx="6191100" cy="7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2000">
                <a:solidFill>
                  <a:srgbClr val="31333F"/>
                </a:solidFill>
                <a:highlight>
                  <a:srgbClr val="FFFFFF"/>
                </a:highlight>
              </a:rPr>
              <a:t>Predictive &amp; Trend Analysis — Simple Forecast</a:t>
            </a:r>
            <a:endParaRPr b="1" sz="2000">
              <a:solidFill>
                <a:srgbClr val="31333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0" name="Google Shape;250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7"/>
          <p:cNvSpPr txBox="1"/>
          <p:nvPr/>
        </p:nvSpPr>
        <p:spPr>
          <a:xfrm>
            <a:off x="295275" y="2490787"/>
            <a:ext cx="1160145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4F46E5"/>
                </a:solidFill>
                <a:latin typeface="Poppins"/>
                <a:ea typeface="Poppins"/>
                <a:cs typeface="Poppins"/>
                <a:sym typeface="Poppins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